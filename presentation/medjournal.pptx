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f6f1c788db433a" /><Relationship Type="http://schemas.openxmlformats.org/officeDocument/2006/relationships/extended-properties" Target="/docProps/app.xml" Id="Re6a189fe6bdd444d" /><Relationship Type="http://schemas.openxmlformats.org/officeDocument/2006/relationships/officeDocument" Target="/ppt/presentation.xml" Id="R487f762754d244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87d6d615a948ca"/>
  </p:sldMasterIdLst>
  <p:notesMasterIdLst>
    <p:notesMasterId xmlns:r="http://schemas.openxmlformats.org/officeDocument/2006/relationships" r:id="Rb8c489e8cbee4ea7"/>
  </p:notesMasterIdLst>
  <p:sldIdLst>
    <p:sldId xmlns:r="http://schemas.openxmlformats.org/officeDocument/2006/relationships" id="256" r:id="R8d32b1dd0db04785"/>
    <p:sldId xmlns:r="http://schemas.openxmlformats.org/officeDocument/2006/relationships" id="257" r:id="R3c610d0bef00400e"/>
    <p:sldId xmlns:r="http://schemas.openxmlformats.org/officeDocument/2006/relationships" id="258" r:id="R542cf0f6ad0b40d6"/>
    <p:sldId xmlns:r="http://schemas.openxmlformats.org/officeDocument/2006/relationships" id="259" r:id="R23c9ebcd054c4091"/>
    <p:sldId xmlns:r="http://schemas.openxmlformats.org/officeDocument/2006/relationships" id="260" r:id="R9d92a97a2eeb467c"/>
    <p:sldId xmlns:r="http://schemas.openxmlformats.org/officeDocument/2006/relationships" id="261" r:id="Ra82409c2596f4337"/>
    <p:sldId xmlns:r="http://schemas.openxmlformats.org/officeDocument/2006/relationships" id="262" r:id="R831606699dba4c29"/>
    <p:sldId xmlns:r="http://schemas.openxmlformats.org/officeDocument/2006/relationships" id="263" r:id="R1fdd8691a7004522"/>
    <p:sldId xmlns:r="http://schemas.openxmlformats.org/officeDocument/2006/relationships" id="264" r:id="R018647203b6a41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9847b643884c47" /><Relationship Type="http://schemas.openxmlformats.org/officeDocument/2006/relationships/slideMaster" Target="/ppt/slideMasters/slideMaster1.xml" Id="Rb387d6d615a948ca" /><Relationship Type="http://schemas.openxmlformats.org/officeDocument/2006/relationships/notesMaster" Target="/ppt/notesMasters/notesMaster1.xml" Id="Rb8c489e8cbee4ea7" /><Relationship Type="http://schemas.openxmlformats.org/officeDocument/2006/relationships/presProps" Target="/ppt/presProps.xml" Id="R250e2342b80d45ca" /><Relationship Type="http://schemas.openxmlformats.org/officeDocument/2006/relationships/tableStyles" Target="/ppt/tableStyles.xml" Id="Re18f07a3aafb4f05" /><Relationship Type="http://schemas.openxmlformats.org/officeDocument/2006/relationships/slide" Target="/ppt/slides/slide1.xml" Id="R8d32b1dd0db04785" /><Relationship Type="http://schemas.openxmlformats.org/officeDocument/2006/relationships/slide" Target="/ppt/slides/slide2.xml" Id="R3c610d0bef00400e" /><Relationship Type="http://schemas.openxmlformats.org/officeDocument/2006/relationships/slide" Target="/ppt/slides/slide3.xml" Id="R542cf0f6ad0b40d6" /><Relationship Type="http://schemas.openxmlformats.org/officeDocument/2006/relationships/slide" Target="/ppt/slides/slide4.xml" Id="R23c9ebcd054c4091" /><Relationship Type="http://schemas.openxmlformats.org/officeDocument/2006/relationships/slide" Target="/ppt/slides/slide5.xml" Id="R9d92a97a2eeb467c" /><Relationship Type="http://schemas.openxmlformats.org/officeDocument/2006/relationships/slide" Target="/ppt/slides/slide6.xml" Id="Ra82409c2596f4337" /><Relationship Type="http://schemas.openxmlformats.org/officeDocument/2006/relationships/slide" Target="/ppt/slides/slide7.xml" Id="R831606699dba4c29" /><Relationship Type="http://schemas.openxmlformats.org/officeDocument/2006/relationships/slide" Target="/ppt/slides/slide8.xml" Id="R1fdd8691a7004522" /><Relationship Type="http://schemas.openxmlformats.org/officeDocument/2006/relationships/slide" Target="/ppt/slides/slide9.xml" Id="R018647203b6a41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e68ae2b00145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e3e66009c1442c" /><Relationship Type="http://schemas.openxmlformats.org/officeDocument/2006/relationships/notesMaster" Target="/ppt/notesMasters/notesMaster1.xml" Id="Ra6d6fba53ad34f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964677e0f74e19" /><Relationship Type="http://schemas.openxmlformats.org/officeDocument/2006/relationships/notesMaster" Target="/ppt/notesMasters/notesMaster1.xml" Id="R824609a2c99f45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ca57dbb59946d9" /><Relationship Type="http://schemas.openxmlformats.org/officeDocument/2006/relationships/notesMaster" Target="/ppt/notesMasters/notesMaster1.xml" Id="R86babaa02ad44e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20d7694f284799" /><Relationship Type="http://schemas.openxmlformats.org/officeDocument/2006/relationships/notesMaster" Target="/ppt/notesMasters/notesMaster1.xml" Id="R549ab752848947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d3a712bb5e4e3f" /><Relationship Type="http://schemas.openxmlformats.org/officeDocument/2006/relationships/notesMaster" Target="/ppt/notesMasters/notesMaster1.xml" Id="R73f264e4d3b548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5f719dc8f2487b" /><Relationship Type="http://schemas.openxmlformats.org/officeDocument/2006/relationships/notesMaster" Target="/ppt/notesMasters/notesMaster1.xml" Id="R2202c2e1fff946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54e26da1ed4c1f" /><Relationship Type="http://schemas.openxmlformats.org/officeDocument/2006/relationships/notesMaster" Target="/ppt/notesMasters/notesMaster1.xml" Id="Rb8ecdd52d7744d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82db27c07147eb" /><Relationship Type="http://schemas.openxmlformats.org/officeDocument/2006/relationships/notesMaster" Target="/ppt/notesMasters/notesMaster1.xml" Id="R33263e743fa945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bcd932444c4d19" /><Relationship Type="http://schemas.openxmlformats.org/officeDocument/2006/relationships/notesMaster" Target="/ppt/notesMasters/notesMaster1.xml" Id="Rf7e845f590cc46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 repository: https://github.com/patha325/medjournal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VGR decision and timeline: https://www.vgregion.se/politik/aktuella-beslut-fran-regionfullmaktige-och-regionstyrelsen/beslut-i-regionstyrelsen/regionstyrelsen-2-december-2025/</a:t>
            </a:r>
          </a:p>
          <a:p xmlns:a="http://schemas.openxmlformats.org/drawingml/2006/main">
            <a:r>
              <a:t>VGR current direction: https://www.vgregion.se/halsa-och-vard/halso--och-sjukvardens-utveckling/vardinformationsmiljo/</a:t>
            </a:r>
          </a:p>
          <a:p xmlns:a="http://schemas.openxmlformats.org/drawingml/2006/main">
            <a:r>
              <a:t>Region Skåne status: https://vardgivare.skane.se/kompetens-utveckling/projekt-och-utvecklingsarbete/sdv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Oracle Health Millennium FHIR APIs: https://docs.oracle.com/en/industries/health/millennium-platform-apis/mfrap/r4_overview.html</a:t>
            </a:r>
          </a:p>
          <a:p xmlns:a="http://schemas.openxmlformats.org/drawingml/2006/main">
            <a:r>
              <a:t>Oracle interoperability overview: https://www.oracle.com/health/interoperability/</a:t>
            </a:r>
          </a:p>
          <a:p xmlns:a="http://schemas.openxmlformats.org/drawingml/2006/main">
            <a:r>
              <a:t>VGR modular direction: https://www.vgregion.se/halsa-och-vard/halso--och-sjukvardens-utveckling/vardinformationsmiljo/</a:t>
            </a:r>
          </a:p>
          <a:p xmlns:a="http://schemas.openxmlformats.org/drawingml/2006/main">
            <a:r>
              <a:t>Region Skåne status: https://www.skane.se/halsa-och-vard/skanes-digitala-vardsystem/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Interactive POC: https://vardflode-journal-poc.patha325.chatgpt.site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VGR recommended national standards and staff participation: https://www.vgregion.se/politik/aktuella-beslut-fran-regionfullmaktige-och-regionstyrelsen/beslut-i-regionstyrelsen/regionstyrelsen-2-december-2025/</a:t>
            </a:r>
          </a:p>
          <a:p xmlns:a="http://schemas.openxmlformats.org/drawingml/2006/main">
            <a:r>
              <a:t>E-hälsomyndigheten national infrastructure: https://www.ehalsomyndigheten.se/verksamhet/ndi/om-nationell-digital-infrastruktur/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documentation: https://github.com/patha325/medjournal/blob/main/docs/architecture.md</a:t>
            </a:r>
          </a:p>
          <a:p xmlns:a="http://schemas.openxmlformats.org/drawingml/2006/main">
            <a:r>
              <a:t>HL7 Sweden base profiles: https://hl7.se/fhir/ig/base/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Data-model documentation: https://github.com/patha325/medjournal/blob/main/docs/data-model.md</a:t>
            </a:r>
          </a:p>
          <a:p xmlns:a="http://schemas.openxmlformats.org/drawingml/2006/main">
            <a:r>
              <a:t>HL7 Sweden base Patient profile: https://hl7.se/fhir/ig/base/1.0.0/StructureDefinition-SEBasePatient.html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Socialstyrelsen journal guidance: https://www.socialstyrelsen.se/publikationer/journalforing-och-behandling-av-personuppgifter-inom-halso--och-sjukvarden-2017-3-2/</a:t>
            </a:r>
          </a:p>
          <a:p xmlns:a="http://schemas.openxmlformats.org/drawingml/2006/main">
            <a:r>
              <a:t>IMY access-control guidance: https://www.imy.se/verksamhet/dataskydd/dataskydd-pa-olika-omraden/vard/informationssakerhet--for-vardgivare/kontroll-av-atkomst-till-uppgifter---for-vardgivare/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https://github.com/patha325/medjournal</a:t>
            </a:r>
          </a:p>
          <a:p xmlns:a="http://schemas.openxmlformats.org/drawingml/2006/main">
            <a:r>
              <a:t>POC: https://vardflode-journal-poc.patha325.chatgpt.site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7c7ed8a8f43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1f8f9ede88493c" /><Relationship Type="http://schemas.openxmlformats.org/officeDocument/2006/relationships/slideLayout" Target="/ppt/slideLayouts/slideLayout1.xml" Id="Re0ffe994552946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ffe994552946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eb5d42a1f418f" /><Relationship Type="http://schemas.openxmlformats.org/officeDocument/2006/relationships/notesSlide" Target="/ppt/notesSlides/notesSlide1.xml" Id="R6942425632624f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12e6d02a14bbf" /><Relationship Type="http://schemas.openxmlformats.org/officeDocument/2006/relationships/notesSlide" Target="/ppt/notesSlides/notesSlide2.xml" Id="Rf90fe2958a2e4b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15ee2d7834e8a" /><Relationship Type="http://schemas.openxmlformats.org/officeDocument/2006/relationships/notesSlide" Target="/ppt/notesSlides/notesSlide3.xml" Id="Rd88aec3be1df49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cd34796544ec1" /><Relationship Type="http://schemas.openxmlformats.org/officeDocument/2006/relationships/notesSlide" Target="/ppt/notesSlides/notesSlide4.xml" Id="R6c6a9ba03c8e49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dbefc1e324494" /><Relationship Type="http://schemas.openxmlformats.org/officeDocument/2006/relationships/notesSlide" Target="/ppt/notesSlides/notesSlide5.xml" Id="R1942d5a9f6f341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0a442a9344235" /><Relationship Type="http://schemas.openxmlformats.org/officeDocument/2006/relationships/notesSlide" Target="/ppt/notesSlides/notesSlide6.xml" Id="Ra42ac8bfdf744a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15324736843d6" /><Relationship Type="http://schemas.openxmlformats.org/officeDocument/2006/relationships/notesSlide" Target="/ppt/notesSlides/notesSlide7.xml" Id="R214b0693e28042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b7561df214170" /><Relationship Type="http://schemas.openxmlformats.org/officeDocument/2006/relationships/notesSlide" Target="/ppt/notesSlides/notesSlide8.xml" Id="R1abb1f2e082041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d96f11a9d4b8e" /><Relationship Type="http://schemas.openxmlformats.org/officeDocument/2006/relationships/notesSlide" Target="/ppt/notesSlides/notesSlide9.xml" Id="R3307a09b303a40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E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FDBFE-180C-4DDE-9333-44201D56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47"/>
          </a:solidFill>
          <a:ln xmlns:a="http://schemas.openxmlformats.org/drawingml/2006/main" w="9525">
            <a:solidFill>
              <a:srgbClr val="073E4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EEA58-A939-4926-81FA-5929AEDA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-952500"/>
            <a:ext cx="6191250" cy="6191250"/>
          </a:xfrm>
          <a:prstGeom xmlns:a="http://schemas.openxmlformats.org/drawingml/2006/main" prst="roundRect">
            <a:avLst>
              <a:gd name="adj" fmla="val 1231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068F4-6C5B-4A77-9231-36A888D2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47750"/>
            <a:ext cx="3619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B9E0DD"/>
          </a:solidFill>
          <a:ln xmlns:a="http://schemas.openxmlformats.org/drawingml/2006/main" w="9525">
            <a:solidFill>
              <a:srgbClr val="B9E0D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3F130-AD75-4D3A-BE1C-F53AB320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Vårdflöde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37966-12F9-4373-966E-999B1980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E0D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B9E0DD"/>
                </a:solidFill>
                <a:latin typeface="DejaVu Sans"/>
                <a:ea typeface="DejaVu Sans"/>
                <a:cs typeface="DejaVu Sans"/>
              </a:rPr>
              <a:t>A safer path to a Swedish clinical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A861E-76A9-4481-94FB-C3534EF0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AE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7EAEB"/>
                </a:solidFill>
                <a:latin typeface="DejaVu Sans"/>
                <a:ea typeface="DejaVu Sans"/>
                <a:cs typeface="DejaVu Sans"/>
              </a:rPr>
              <a:t>Interactive POC, modular architecture and a standards-based clinical data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42C03-AC9E-4D75-AB8B-7825CA30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B865"/>
          </a:solidFill>
          <a:ln xmlns:a="http://schemas.openxmlformats.org/drawingml/2006/main" w="9525">
            <a:solidFill>
              <a:srgbClr val="E8B86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3E47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73E47"/>
                </a:solidFill>
                <a:latin typeface="DejaVu Sans"/>
                <a:ea typeface="DejaVu Sans"/>
                <a:cs typeface="DejaVu Sans"/>
              </a:rPr>
              <a:t>EXECUTIVE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87FCC-A835-4092-A467-0DCF0CD3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DAD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C6DADB"/>
                </a:solidFill>
                <a:latin typeface="DejaVu Sans"/>
                <a:ea typeface="DejaVu Sans"/>
                <a:cs typeface="DejaVu Sans"/>
              </a:rPr>
              <a:t>22 September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923F6-D711-434F-A122-FED87851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180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0" b="1">
                <a:solidFill>
                  <a:srgbClr val="073E47"/>
                </a:solidFill>
                <a:latin typeface="DejaVu Sans"/>
                <a:ea typeface="DejaVu Sans"/>
                <a:cs typeface="DejaVu Sans"/>
              </a:defRPr>
            </a:pPr>
            <a:r>
              <a:rPr sz="9000" b="1">
                <a:solidFill>
                  <a:srgbClr val="073E47"/>
                </a:solidFill>
                <a:latin typeface="DejaVu Sans"/>
                <a:ea typeface="DejaVu Sans"/>
                <a:cs typeface="DejaVu Sans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941173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54547F-AD2A-49DA-9D39-C2BED8B5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Sweden has already changed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E9EB1-2BBF-4EB7-B198-0542EE56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The public record now supports modularity, stronger clinical involvement and control over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7D793-2830-4E3A-A445-E850D1BF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MEDJOURNAL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F362B-DB76-45D7-BFFC-F6917B23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C697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C5641-0937-4D7E-AE8B-A5423F44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6D74B-B121-4F80-AD7B-1247CB5D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C720E-CC22-4ADB-9D30-C6E97B0F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31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5B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C45B20"/>
                </a:solidFill>
                <a:latin typeface="DejaVu Sans"/>
                <a:ea typeface="DejaVu Sans"/>
                <a:cs typeface="DejaVu Sans"/>
              </a:rPr>
              <a:t>12 Nov 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8BA18-7DC7-4FF7-BA0C-1CB324F3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VGR activated Millennium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34094-86B5-4181-A67E-47FF7F41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Deployment began in part of the region.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29867-212D-4F60-8195-8FFDFCDE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383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0C04D-471C-436F-85FF-1349D85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383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13968-29C4-4780-BD10-EB5E0A1A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31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5B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C45B20"/>
                </a:solidFill>
                <a:latin typeface="DejaVu Sans"/>
                <a:ea typeface="DejaVu Sans"/>
                <a:cs typeface="DejaVu Sans"/>
              </a:rPr>
              <a:t>15 Nov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71CC5-9E3B-44CD-90BE-AE42D686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VGR paused deployment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CB50C-1C28-4900-AF75-5834FE3A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VGR stated that patient safety could not be guaranteed.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8F1EF-31E6-4BA6-A4A1-BD6FA12E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1E5D7-3021-4325-B176-1875097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2BCA5-0653-42AB-B5C0-5CE6688E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9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5B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C45B20"/>
                </a:solidFill>
                <a:latin typeface="DejaVu Sans"/>
                <a:ea typeface="DejaVu Sans"/>
                <a:cs typeface="DejaVu Sans"/>
              </a:rPr>
              <a:t>17 Feb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1C0C3-9913-41B3-94AC-2445C5CD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VGR chose a new direction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ED641-A2C5-43EA-B763-32972325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Regional leadership ended the common core-system approach.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069F3-23AE-4AA7-B50B-83728524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383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18F33-0C41-420C-BA33-2BED2AA4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383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663A7-229D-46DD-B446-1373FD46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5B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C45B20"/>
                </a:solidFill>
                <a:latin typeface="DejaVu Sans"/>
                <a:ea typeface="DejaVu Sans"/>
                <a:cs typeface="DejaVu Sans"/>
              </a:rPr>
              <a:t>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BA6CD-AB4B-47E7-8B15-D8071399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Skåne stopped its programme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344CD-5058-411B-89E4-D8562E5A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Reviews found the current generation insufficient for usability and patient safety.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CA1FB-2460-471F-8BD2-4D1307BA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73E47"/>
          </a:solidFill>
          <a:ln xmlns:a="http://schemas.openxmlformats.org/drawingml/2006/main" w="9525">
            <a:solidFill>
              <a:srgbClr val="073E4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3E268-BD98-4D9A-863E-B30280C4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lesson is broader than one supplier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F7C7F9-6E89-4826-A755-60604481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006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9E0D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B9E0DD"/>
                </a:solidFill>
                <a:latin typeface="DejaVu Sans"/>
                <a:ea typeface="DejaVu Sans"/>
                <a:cs typeface="DejaVu Sans"/>
              </a:rPr>
              <a:t>Clinical workflow, safety validation, rollout design and governance must succeed together.</a:t>
            </a:r>
          </a:p>
        </p:txBody>
      </p:sp>
    </p:spTree>
    <p:extLst>
      <p:ext uri="{BB962C8B-B14F-4D97-AF65-F5344CB8AC3E}">
        <p14:creationId xmlns:p14="http://schemas.microsoft.com/office/powerpoint/2010/main" val="10591128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017FBE-14FE-47D9-9871-16614D1C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4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A fair comparison separates platform capability from implementation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83358-814A-4531-AB93-7C631CB0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Oracle Millennium supports FHIR. The Swedish programmes still failed to meet local usability and safety expectations.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4B331-6FBF-4B77-BCD9-20093583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MEDJOURNAL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608B3-EAC2-4448-91FA-E7EB858C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2143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E9F77-7B17-408F-B694-E89AB7FD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76375"/>
            <a:ext cx="1876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Dimension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CEE3D-9FEA-44AE-953B-659EDC80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41433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E47"/>
          </a:solidFill>
          <a:ln xmlns:a="http://schemas.openxmlformats.org/drawingml/2006/main" w="9525">
            <a:solidFill>
              <a:srgbClr val="073E4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61AC7-DBCC-4F5B-B65A-7BE74A25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76375"/>
            <a:ext cx="3876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Oracle Health Millennium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CCF88-F448-48EB-95DC-379F988A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28750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E47"/>
          </a:solidFill>
          <a:ln xmlns:a="http://schemas.openxmlformats.org/drawingml/2006/main" w="9525">
            <a:solidFill>
              <a:srgbClr val="073E4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A81E6-ACC5-4328-9240-A954AC03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476375"/>
            <a:ext cx="421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Vårdflöde POC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8C19F-4B11-422B-8CB6-9744D2B4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143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D9BE9-8049-4627-8C59-913258C1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4143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5F545-B185-4516-A7FE-D8812D3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52625"/>
            <a:ext cx="4476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52FC2-9290-438E-A8FA-4F632A5B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28825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Interoperability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FA97A-C316-48E7-901A-86A50847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19300"/>
            <a:ext cx="3876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FHIR R4 APIs and SMART applications are documented.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E571F-2996-45D5-87A6-2EFA5C13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193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Swedish profiles and terminology form the primary contract.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8BC95-48AB-4CF4-8A0D-26F55844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0325"/>
            <a:ext cx="2143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CC5C4-A8CE-47FF-8A28-8C63662F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0325"/>
            <a:ext cx="4143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F423C-DBB7-47C9-B4DC-92D05490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00325"/>
            <a:ext cx="4476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7E28A-D3F0-4B39-9B3C-EFB2D8AB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76525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Product shape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6F0E2-54A0-441F-8EDF-5ADE224C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3876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Large integrated EHR platform.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5C25C-D213-489B-B0E2-D2EC8285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670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Replaceable modules around a small canonical core.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28FC5-839C-4B82-85F7-C2240CD8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48025"/>
            <a:ext cx="2143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6489F-CA07-496A-B310-10417FE1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48025"/>
            <a:ext cx="4143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C1A82-8EFC-4D88-90E5-02870552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48025"/>
            <a:ext cx="4476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938A3-5D1E-4148-8C55-79F29702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24225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Swedish outcome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673F4F-8D8E-4055-8B75-C235DEE0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3876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VGR stopped the rollout. Skåne ended its programme.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B8ACF-141C-43FC-B588-781173F6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147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Unvalidated POC. No production outcome yet.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C5617A-0932-4F8D-9240-53362CE6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95725"/>
            <a:ext cx="2143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83000E-73C6-4D4E-BB30-CCFA0FE8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4143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554D54-73AD-4A36-9FB1-F1DAB498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476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10D491-B2BD-452D-A3C8-05A365B3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71925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Clinical workflow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601336-FFE0-4B7C-BE45-3275AA17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3876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Swedish reviews identified usability gaps in the configured solution.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5650DA-0AFB-49A5-9BC0-218A9707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9624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Workflow prototypes tested before service implementation.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90034C-252A-4437-937B-92E4EAF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43425"/>
            <a:ext cx="2143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65DA28-01D0-48F6-8C65-6D900502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43425"/>
            <a:ext cx="4143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1ADC96-34A5-466B-BCE6-DF7E8807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43425"/>
            <a:ext cx="4476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A0526F-6B2D-4210-8F73-F1D8D372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19625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Change control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0A9DE4-1395-4BC2-BF59-7B4A9B27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10100"/>
            <a:ext cx="3876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Supplier platform plus regional configuration.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E64AC6-EDF8-4B89-80CF-1C6DB7E1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6101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Versioned APIs, contract tests and reversible releases.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FC6769-B281-4EAC-9E83-968008D7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2143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F14C92-FC03-4DFE-BFB4-ABFD0409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91125"/>
            <a:ext cx="4143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3EF6D4-11C4-46CD-8409-9A6955EA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91125"/>
            <a:ext cx="4476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A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134AA7-28FD-468C-BBEA-2BDEC49F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67325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Supplier dependence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DAB2F7-8D4E-42E2-8B68-8A2D967D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57800"/>
            <a:ext cx="3876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Extensions available through platform APIs.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CEC370-9DA2-4E2A-B6F2-6377AA2A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2578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Open exports and rehearsed component replacement.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826D80-E6F8-4A1D-8E25-84DE3CB5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02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B2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C45B20"/>
                </a:solidFill>
                <a:latin typeface="DejaVu Sans"/>
                <a:ea typeface="DejaVu Sans"/>
                <a:cs typeface="DejaVu Sans"/>
              </a:rPr>
              <a:t>The POC presents design advantages, not proof of superiority. A clinical pilot must produce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908575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73DEB2-18DA-4126-BE34-FA13637A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The clinical workspace keeps the care task in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1A7FD-CFF9-4F34-93E1-D82D6962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Structured capture, narrative detail and safety context share one screen.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D33B3-B9DC-4C18-8A4C-A16026C9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MEDJOURNAL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7E54B-D081-46DE-ACEF-560AA88A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111442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7E09B-A51E-4DF6-9292-11664E09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1114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3E47"/>
          </a:solidFill>
          <a:ln xmlns:a="http://schemas.openxmlformats.org/drawingml/2006/main" w="9525">
            <a:solidFill>
              <a:srgbClr val="073E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5366A-A96E-4970-81BD-043EDEF6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192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Vårdflöde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C5858-C823-43DB-BD72-92AD272F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38275"/>
            <a:ext cx="2333625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B408E-EBC0-49E3-B31F-A4C13FF9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668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AE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D7EAEB"/>
                </a:solidFill>
                <a:latin typeface="DejaVu Sans"/>
                <a:ea typeface="DejaVu Sans"/>
                <a:cs typeface="DejaVu Sans"/>
              </a:rPr>
              <a:t>Sök patient…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5DEBD-5CC5-452F-A087-E04DC901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0744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9F8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B7F08-CE0F-43EC-851A-9E6DC9C0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DDF2F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9AB68-A7BB-4605-A668-705777DD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1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ABCC2-7F61-4F38-BEA4-6D44D24D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Anna Sjöberg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82084-6751-40E7-9EBF-529B33AF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907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Syntetisk patient · vårdrelation aktiv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8E14F-6EA0-46C8-B8C5-16F080AC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E9DE"/>
          </a:solidFill>
          <a:ln xmlns:a="http://schemas.openxmlformats.org/drawingml/2006/main" w="9525">
            <a:solidFill>
              <a:srgbClr val="FBE9DE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45B20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C45B20"/>
                </a:solidFill>
                <a:latin typeface="DejaVu Sans"/>
                <a:ea typeface="DejaVu Sans"/>
                <a:cs typeface="DejaVu Sans"/>
              </a:rPr>
              <a:t>PENICILLINALLERGI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FA152-2391-4E7C-A2D1-D134D54F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70008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7B8F5-3B4C-4D75-980A-80EDB2E0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Ny journalanteckning · SOAP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790AD-760C-4FB8-9307-F759B017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S — Subjektivt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5FF35-F31E-41AB-8895-8C847833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09950"/>
            <a:ext cx="519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A2590-D66B-4272-9DD7-14D7C2A2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575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Feber och torrhosta sedan tre dagar.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526A3-223D-46A4-BB57-0821F077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38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O — Objektivt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D3172-2F8A-4F08-8966-11EC6F1F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14775"/>
            <a:ext cx="519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3E04D-30B8-4331-A387-F5F52BF9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624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Temp 38,1 °C. Sat 98 % på luft.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B4B51-9AB5-404D-9626-6C621FE0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A — Bedömning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3C10EE-1498-423B-98CA-34D6C19F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19600"/>
            <a:ext cx="519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E9F884-A367-43D4-83D4-40451BC2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672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Misstänkt viral luftvägsinfektion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C34B44-8A7B-4F4E-8723-70D1791C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P —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CCA52B-F035-469F-BA54-76827936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24425"/>
            <a:ext cx="519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982EA3-9DE0-490D-88BC-2E536479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Egenvård och åter vid försämring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DC9C12-8CF7-45B2-A294-F7647F8E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438775"/>
            <a:ext cx="1885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12D964-CCE7-4478-96E6-2CE4748B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4673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Granska och signera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D6D149-D91B-4729-85BE-6B586D15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35623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7F0"/>
          </a:solidFill>
          <a:ln xmlns:a="http://schemas.openxmlformats.org/drawingml/2006/main" w="9525">
            <a:solidFill>
              <a:srgbClr val="E7B68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A89E57-37E0-410A-BA27-552176DB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5B2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C45B20"/>
                </a:solidFill>
                <a:latin typeface="DejaVu Sans"/>
                <a:ea typeface="DejaVu Sans"/>
                <a:cs typeface="DejaVu Sans"/>
              </a:rPr>
              <a:t>Läkemedelssäkerhet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228C4C-885F-4784-A166-3E379D8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Allergin följer ordinationsflödet och kräver aktiv bedömning.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1540AF-57E7-4273-9FD7-8E6E34C9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00550"/>
            <a:ext cx="3562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758F10-360C-4CE0-B3EE-05155C17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Åtkomst och ansvar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D16006-14BA-4438-B6B7-65E05556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Syfte: direkt vård</a:t>
            </a:r>
          </a:p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Alla läsningar och ändringar loggas</a:t>
            </a:r>
          </a:p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Signerad historik kan rekonstrueras</a:t>
            </a:r>
          </a:p>
        </p:txBody>
      </p:sp>
    </p:spTree>
    <p:extLst>
      <p:ext uri="{BB962C8B-B14F-4D97-AF65-F5344CB8AC3E}">
        <p14:creationId xmlns:p14="http://schemas.microsoft.com/office/powerpoint/2010/main" val="1361720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180E32-FBAA-455B-8D84-63F3A70E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0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Six design choices directly address the Swedish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EC339-3A45-4E42-A51E-C018D94E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Each choice must still be tested with clinicians, patients and operational teams.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86596-CAC6-4A1F-B8F1-ED1E3343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MEDJOURNAL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1A764-56C6-4540-AAC9-B041FD48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BF55A-ADDE-4123-B224-498C78DF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29D70-6D55-4160-AEB7-0E0D2CAC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EAB17-43DC-4567-9304-7EDB6257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525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Workflow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F5F2E-9E44-4D29-A7B9-438B7278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764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Prototype real care scenarios before technical build. Measure task time, errors and cognitive load.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E172F-DBAE-48D3-865B-A539F7D7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8112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7D445-F170-4BBE-9C92-1621EDB0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525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16FBF-999F-4797-BBA5-55F32FCB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525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5F65C-3646-431A-A7A7-53A439A7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525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Modular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DC615-5323-41B2-A7EB-2C8D68DD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764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Replace components without replacing the complete information environment.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354BA-7554-41E0-AAFA-890E5AF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EB2D1-28E2-44AB-A588-CEF7D8A1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665D6-C5B6-423F-9013-13E5023F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D0F0F-AD82-44FA-95B6-29D8B165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337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Swedish semantics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A1DCC-9C11-4A2C-9F1D-CCEE433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75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Use national profiles and terminology instead of pushing local meaning into free 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BC1C9-CB81-4BE6-8A29-F7EAE39E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6227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C0956-7A4E-4C77-9FD1-71765CED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337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6EEE5-84EC-430F-B487-91A2FE2E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337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69E811-5423-483D-B8BF-FFE3976E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337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Traceable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673F4-AA72-4762-8A40-6CD3DA6E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575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Keep signed history, provenance and access events independently verifiable.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CD9AF-BF59-4E27-98D8-ECBF367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4342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03CAAF-08FC-4C6D-88A3-1078E83E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A1A8EB-B6F5-49DD-86F5-4306BBC9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E3AAC7-262A-4F08-AE17-4E443FAA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48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Reversible rollout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C9034-B8E3-4820-B63B-36D24F7D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387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Release by workflow and unit with exit criteria, fallback and rapid rollback.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0A786F-2E14-4602-A932-792399A0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4342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F3596C-5EFB-43DC-AD13-9A970860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148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7DEAB9-7A50-4381-9238-F1DEE251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14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2FD17A-9000-46E7-8C6F-6000D8B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148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Data control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EFD5A8-D1F2-4F01-9F7F-8B0D6267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387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Keep a canonical model, open exports and tested supplier-exit procedures.</a:t>
            </a:r>
          </a:p>
        </p:txBody>
      </p:sp>
    </p:spTree>
    <p:extLst>
      <p:ext uri="{BB962C8B-B14F-4D97-AF65-F5344CB8AC3E}">
        <p14:creationId xmlns:p14="http://schemas.microsoft.com/office/powerpoint/2010/main" val="11011834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52B3CA-BBA8-43DE-8F85-7C3BB750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70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The architecture limits blast radius and supplier dependence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3D256-1EEF-4384-9416-B9AA5FC0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A policy gateway protects a small clinical core. Integration and analytics remain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782CF-E89A-4D0A-8373-33A793BC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MEDJOURNAL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50C33-E034-4C54-8FEA-0F039BED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2476500" cy="41719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13252-66E7-4191-AF43-0E98965E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81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CHANNELS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9ADF2-9558-49A1-B542-7493F7D9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28825"/>
            <a:ext cx="21336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01EAF-E7BC-4330-AA73-644371DF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336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Clinician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E5861-644D-47CE-8BB1-03735236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0030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SSO, MFA, accessible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3F0D0-684A-41FE-97AE-982E5FC7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57525"/>
            <a:ext cx="21336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62600-AA0B-4DEA-822E-2403F22F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62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Patient channel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348E6-2D57-4E73-A702-E2D5DF8D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2900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1177, portal and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866CC-C3A6-4902-916F-D8EA527A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86225"/>
            <a:ext cx="21336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BE2FC-1CAA-469F-985E-DA7DCFF2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910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Embedded apps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97A0E-EC1F-4345-BE39-1F3B5B8C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5770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SMART on FHIR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DAA8C-878F-499B-9252-6135A857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4762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1655C-F283-4219-A2FE-F4E3799D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81150"/>
            <a:ext cx="441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CLINICAL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3FFE0-7777-40CB-B9BC-188B0AB8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28825"/>
            <a:ext cx="44196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073E47"/>
          </a:solidFill>
          <a:ln xmlns:a="http://schemas.openxmlformats.org/drawingml/2006/main" w="9525">
            <a:solidFill>
              <a:srgbClr val="073E4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98572-B802-4103-9CCE-ED2B8052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3360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FHIR API and policy gateway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18511-B557-48E6-897E-879390BC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415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E0DD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B9E0DD"/>
                </a:solidFill>
                <a:latin typeface="DejaVu Sans"/>
                <a:ea typeface="DejaVu Sans"/>
                <a:cs typeface="DejaVu Sans"/>
              </a:rPr>
              <a:t>Swedish profiles, validation and purpose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43E7D-40E9-40B1-B42D-24F7D0F0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57525"/>
            <a:ext cx="44196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6B9504-B1F1-4A33-9AD0-ABCF0312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Journal and workflow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8AFCA-57D4-473F-A3E3-C377C849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415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Documentation, orders, results and signing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93DF3-3185-41F2-9902-AE5ECA5C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86225"/>
            <a:ext cx="44196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3E2089-3D80-4AB1-96E9-3FF3A5F6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9100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Terminology and decision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63C2CA-758A-4799-954F-617D5046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57700"/>
            <a:ext cx="415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Versioned rules and explainable alerts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1EBE97-F6A5-4474-9D9D-4FD81FD8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143250" cy="41719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C3C0B1-0FB4-407E-8DE1-8E15A7DC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58115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TRUST AND ECOSYSTEM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B41CD1-4849-4595-BECD-53551EA2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28825"/>
            <a:ext cx="28003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5582B7-DB20-41F2-BF9F-E5391350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336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Clinical store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DDC56B-7B91-4EA5-A489-CC59A784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00300"/>
            <a:ext cx="2533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Encrypted records and immutable versions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1D94FF-E72C-4AE0-A6F0-A74833B6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57525"/>
            <a:ext cx="28003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450D62-E596-4179-9355-3DBF286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623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Audit ledger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BCF098-E9DB-47E8-8483-5E7C95C3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29000"/>
            <a:ext cx="2533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Separate append-only security domain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86F00-3BC5-4743-991A-576E84DD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86225"/>
            <a:ext cx="28003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3CCEB4-639A-41CE-9469-2F0A29A9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1910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National adapters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0D9D26-1B93-45E4-9661-E38C665A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457700"/>
            <a:ext cx="2533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NDI, 1177, medicines and regional services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DC95D7-3FDE-4238-B323-8B191C3A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70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5B434A-57D5-4549-9839-4EEA9E19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70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24F35F-36EB-45FF-9B0B-7338F331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791200"/>
            <a:ext cx="1571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B865"/>
          </a:solidFill>
          <a:ln xmlns:a="http://schemas.openxmlformats.org/drawingml/2006/main" w="9525">
            <a:solidFill>
              <a:srgbClr val="E8B86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3E47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73E47"/>
                </a:solidFill>
                <a:latin typeface="DejaVu Sans"/>
                <a:ea typeface="DejaVu Sans"/>
                <a:cs typeface="DejaVu Sans"/>
              </a:rPr>
              <a:t>EVENT BUS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AAA61B-3922-42FA-900D-51E3AADA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Approved events feed pseudonymised secondary use</a:t>
            </a:r>
          </a:p>
        </p:txBody>
      </p:sp>
    </p:spTree>
    <p:extLst>
      <p:ext uri="{BB962C8B-B14F-4D97-AF65-F5344CB8AC3E}">
        <p14:creationId xmlns:p14="http://schemas.microsoft.com/office/powerpoint/2010/main" val="713537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2A8D42-EFA1-4DB6-AF5C-C814FBCD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9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The data model preserves clinical truth and correction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60B99-3E58-43AF-95EB-39006730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Stable records reference immutable versions. Audit events remain outside the editable clinical store.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393A0-3E7E-4461-B173-108DC1C1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MEDJOURNAL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9C766-4DAA-4482-92E9-BED3116F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002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8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0F6E0-55A4-4BE8-8E9D-1751412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002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8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E5974-1DCE-4E60-959B-FF0403E6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00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8D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B2DDB-A3BA-4A27-8407-59D5B4DA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8D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AC239-0701-45BC-8B03-565B0291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8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EAE58-868B-4CB1-AC5A-289BA83E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8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278BF-652E-4C0A-8268-66EE652A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8D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C2317-459E-4F41-8C24-9EB8C4A5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3E47"/>
          </a:solidFill>
          <a:ln xmlns:a="http://schemas.openxmlformats.org/drawingml/2006/main" w="9525">
            <a:solidFill>
              <a:srgbClr val="073E4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D52A1-B9E9-4869-8CE1-8120C333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Patient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55F22-3609-4BA0-85BA-1D3D6B51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E0DD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B9E0DD"/>
                </a:solidFill>
                <a:latin typeface="DejaVu Sans"/>
                <a:ea typeface="DejaVu Sans"/>
                <a:cs typeface="DejaVu Sans"/>
              </a:rPr>
              <a:t>UUID identity · status · provenance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2219A-84B5-420C-88FE-48EA42D0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2400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B3CCF-EF06-440C-B422-E84DD2FE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38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Encounter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B793B-ED82-420D-BF90-D24DFE97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812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E0DD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B9E0DD"/>
                </a:solidFill>
                <a:latin typeface="DejaVu Sans"/>
                <a:ea typeface="DejaVu Sans"/>
                <a:cs typeface="DejaVu Sans"/>
              </a:rPr>
              <a:t>UUID identity · status · provenance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194CB-FE2F-43CF-8F0F-07CFBBAF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2046C-0F21-49DC-955D-E1BC783C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38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ClinicalEntry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0B1BD-0BC3-42C5-876F-2C8FCFCE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E0DD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B9E0DD"/>
                </a:solidFill>
                <a:latin typeface="DejaVu Sans"/>
                <a:ea typeface="DejaVu Sans"/>
                <a:cs typeface="DejaVu Sans"/>
              </a:rPr>
              <a:t>UUID identity · status · provenance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2A623-649B-4D47-9575-454A4560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240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3E47"/>
          </a:solidFill>
          <a:ln xmlns:a="http://schemas.openxmlformats.org/drawingml/2006/main" w="9525">
            <a:solidFill>
              <a:srgbClr val="073E4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EEE0B-16EC-4546-9AEC-387758FC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38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EntryVersion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0466C-7E64-4432-A7E1-6B0CF174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812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E0DD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B9E0DD"/>
                </a:solidFill>
                <a:latin typeface="DejaVu Sans"/>
                <a:ea typeface="DejaVu Sans"/>
                <a:cs typeface="DejaVu Sans"/>
              </a:rPr>
              <a:t>payload · signature · hash · supersedes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544D8-0BD5-4FB8-909D-3737471D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079F0B-CC32-4E55-951B-FF6E30B2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Practitioner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5D4D0-5759-47D3-827D-152ED58E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UUID identity · status · provenance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AF16E7-BFA2-4EC4-BB59-F8117C0E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5EFC07-9D56-44C9-9613-C552D60E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CareUnit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5E274E-7A9D-495F-B636-291314D3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672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UUID identity · status · provenance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232986-9440-426E-B83B-3505CE3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00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F1FC01-8BAB-449F-9F18-9B29F9FF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ConsentBlock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A7880B-C1E7-4D20-B724-7C6A39BA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UUID identity · status · provenance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53C93F-BD29-4B4B-B5CE-27265987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100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F2E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EFA20A-CA5F-4BE8-AFA5-8029A6B8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24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AuditEvent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41E0F5-8D56-49C8-8E67-AFF758EA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672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77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actor · purpose · action · decision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B5EA86-456C-42E6-8293-853004F9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DDF2F1"/>
            </a:solidFill>
          </a:ln>
        </p:spPr>
        <p:txBody>
          <a:bodyPr xmlns:a="http://schemas.openxmlformats.org/drawingml/2006/main" anchor="ctr">
            <a:normAutofit fontScale="89632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1 : 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A64DC6-92C8-48A7-9E61-95A8207A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DDF2F1"/>
            </a:solidFill>
          </a:ln>
        </p:spPr>
        <p:txBody>
          <a:bodyPr xmlns:a="http://schemas.openxmlformats.org/drawingml/2006/main" anchor="ctr">
            <a:normAutofit fontScale="89632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1 : 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FFB2F5-7474-474E-922A-037622C2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57375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DDF2F1"/>
            </a:solidFill>
          </a:ln>
        </p:spPr>
        <p:txBody>
          <a:bodyPr xmlns:a="http://schemas.openxmlformats.org/drawingml/2006/main" anchor="ctr">
            <a:normAutofit fontScale="89632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1 : 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A86A31-B845-49A4-85F7-EE77AA29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858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BC70A7-24FB-46CC-A106-F14685D2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149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FHIR boundary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8132F5-42D1-4359-9C7A-6BD6747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Patient · Encounter · Composition · Observation · Condition · AllergyIntolerance · MedicationRequest · Consent · Provenance · AuditEvent</a:t>
            </a:r>
          </a:p>
        </p:txBody>
      </p:sp>
    </p:spTree>
    <p:extLst>
      <p:ext uri="{BB962C8B-B14F-4D97-AF65-F5344CB8AC3E}">
        <p14:creationId xmlns:p14="http://schemas.microsoft.com/office/powerpoint/2010/main" val="453403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CEF244-8D3B-4803-8769-AD880B97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A clinical pilot should advance through evidence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E96C2-60D2-46AA-B871-D6633A3E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No phase proceeds because a calendar says so.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A7B95-4AEB-489C-8F95-61991D57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293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MEDJOURNAL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F6E5C-CB29-423F-92F2-B33B3E7A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66850"/>
            <a:ext cx="2143125" cy="4095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6C1C1-D445-4866-A093-A69B7C30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573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19551-63CC-4E58-9E37-C9DD5C63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573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5135F-F733-489A-BC9E-BF5502AC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6695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1132F-890C-4C24-89C9-EB6B7DCD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43200"/>
            <a:ext cx="1762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Select two care workflows. Establish baseline time, error patterns and safety hazards.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6B914-6362-48BA-8131-6B7D59D9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57700"/>
            <a:ext cx="18002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5F9F8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FEA50-ABAA-46DE-AFA6-6882E1C0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52950"/>
            <a:ext cx="1571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Gate: shared workflow and hazard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AE7DB-57BE-42B3-9094-47846876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66850"/>
            <a:ext cx="2143125" cy="4095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CFB9D-2FCA-4DAA-B791-6C4DE56B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573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BDD37-28D3-4192-BF00-A1945099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573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4B3F6-29EA-4975-A7C6-8431E785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Prototype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D7714-42A6-4506-88CF-546622AA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1762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Run realistic simulations with clinicians and patients. Measure usability and accessibility.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45BE7-DFE9-42FA-AEF0-7952DF65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18002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5F9F8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E84AC-BC8B-429A-B1C9-7CC1BDCC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52950"/>
            <a:ext cx="1571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Gate: agreed safety and usability thresholds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00771-F975-47D3-A563-8A3BF6E3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466850"/>
            <a:ext cx="2143125" cy="4095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7DFAD-A776-4282-B71D-83F39537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6573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0AF24-2214-4A2B-8B75-55618716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6573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DB414-6F37-45AF-B375-E1CB19DF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6695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Integrate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A58B5-BC4B-4271-BCF0-DFCE8A8E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43200"/>
            <a:ext cx="1762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Connect identity, terminology and one source system through versioned contracts.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20484-4FD7-4B16-B60F-1B4B6E06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57700"/>
            <a:ext cx="18002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5F9F8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B4D1C-3902-465A-91DD-8B414F28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552950"/>
            <a:ext cx="1571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Gate: security and recovery verification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E1EBA-2CD4-41F5-9212-15FE29F0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2143125" cy="4095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B30C59-69A4-42BC-B9A2-685C0EE8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573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C9F92E-6F9C-40B8-95D5-7A9F5FD3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573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B87065-529B-44CC-8D30-A622396C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6695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Shadow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01A03C-F841-43DE-BA8A-BDA6609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1762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Operate with synthetic and replayed data. Compare outputs without directing care.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5A86A7-3519-4379-8288-1FCC9C43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57700"/>
            <a:ext cx="18002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5F9F8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7AA037-9275-4E00-9653-35AF6E53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52950"/>
            <a:ext cx="1571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Gate: reconciled clinical results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EFBBA6-C0EE-4BFA-A61A-C589FC46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466850"/>
            <a:ext cx="2143125" cy="4095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0F1EF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67D575-2E0A-4F0B-8DC9-D5BBC9FF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6573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84E689-A935-4B17-8B4B-CF901BA2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6573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A349C1-4B7E-4A88-BE64-35EEC504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26695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52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529"/>
                </a:solidFill>
                <a:latin typeface="DejaVu Sans"/>
                <a:ea typeface="DejaVu Sans"/>
                <a:cs typeface="DejaVu Sans"/>
              </a:rPr>
              <a:t>Pilot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0D8724-6EE5-4B29-BBA5-FCB87C24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43200"/>
            <a:ext cx="1762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E72"/>
                </a:solidFill>
                <a:latin typeface="DejaVu Sans"/>
                <a:ea typeface="DejaVu Sans"/>
                <a:cs typeface="DejaVu Sans"/>
              </a:rPr>
              <a:t>One willing unit, narrow scope, on-site support and immediate rollback.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F93B78-03F1-4B99-82A9-0CEAC1E9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457700"/>
            <a:ext cx="180022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5F9F8"/>
          </a:solidFill>
          <a:ln xmlns:a="http://schemas.openxmlformats.org/drawingml/2006/main" w="9525">
            <a:solidFill>
              <a:srgbClr val="C9D8D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248268-AEFB-4CCF-97FC-B2CF7CCF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552950"/>
            <a:ext cx="1571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C6973"/>
                </a:solidFill>
                <a:latin typeface="DejaVu Sans"/>
                <a:ea typeface="DejaVu Sans"/>
                <a:cs typeface="DejaVu Sans"/>
              </a:rPr>
              <a:t>Gate: independent go, hold or stop decision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480EBD-E201-45E9-ACAE-73F37F99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5B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C45B20"/>
                </a:solidFill>
                <a:latin typeface="DejaVu Sans"/>
                <a:ea typeface="DejaVu Sans"/>
                <a:cs typeface="DejaVu Sans"/>
              </a:rPr>
              <a:t>Clinical safety, information security and operational readiness have independent stop authority.</a:t>
            </a:r>
          </a:p>
        </p:txBody>
      </p:sp>
    </p:spTree>
    <p:extLst>
      <p:ext uri="{BB962C8B-B14F-4D97-AF65-F5344CB8AC3E}">
        <p14:creationId xmlns:p14="http://schemas.microsoft.com/office/powerpoint/2010/main" val="18910229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3E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7A6B9-D844-4A57-A58B-663105C7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next decision is small and testable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19DE9-741D-4F6D-8AD1-05B6B10A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E0D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B9E0DD"/>
                </a:solidFill>
                <a:latin typeface="DejaVu Sans"/>
                <a:ea typeface="DejaVu Sans"/>
                <a:cs typeface="DejaVu Sans"/>
              </a:rPr>
              <a:t>Fund a 12-week discovery and prototype for two clinical workflows.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5FEC6-A94F-436C-ABD7-C056CC53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B865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E8B865"/>
                </a:solidFill>
                <a:latin typeface="DejaVu Sans"/>
                <a:ea typeface="DejaVu Sans"/>
                <a:cs typeface="DejaVu Sans"/>
              </a:rPr>
              <a:t>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004DE-0282-4718-BAAE-7FE80A1E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1457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One primary-care workflow and one medication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6AB9B-07AB-4021-B0E8-3DE2E417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B865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E8B865"/>
                </a:solidFill>
                <a:latin typeface="DejaVu Sans"/>
                <a:ea typeface="DejaVu Sans"/>
                <a:cs typeface="DejaVu Sans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895F2-222D-47E5-8E42-1526560B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5752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Task time, safety hazards, accessibility and integration contracts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C972C-6634-40EE-92FE-F2A17628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B865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E8B865"/>
                </a:solidFill>
                <a:latin typeface="DejaVu Sans"/>
                <a:ea typeface="DejaVu Sans"/>
                <a:cs typeface="DejaVu Sans"/>
              </a:rPr>
              <a:t>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DCAC2-C405-48FA-A063-91530D74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0047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Clinicians, patients, safety, engineering and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7F5FF-234C-4BFC-834D-9FB53AC5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B865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E8B865"/>
                </a:solidFill>
                <a:latin typeface="DejaVu Sans"/>
                <a:ea typeface="DejaVu Sans"/>
                <a:cs typeface="DejaVu Sans"/>
              </a:rPr>
              <a:t>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A4CED-DEDE-40BA-B20E-88D14FE2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4342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Tested prototype, hazard log, target architecture and pilot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3F483-2EDF-43BC-9800-6A1F00AF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6973"/>
          </a:solidFill>
          <a:ln xmlns:a="http://schemas.openxmlformats.org/drawingml/2006/main" w="9525">
            <a:solidFill>
              <a:srgbClr val="0C69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266FE-76C1-46CB-AB2F-FA40886F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042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Success means evidence for a safe pilot. A decision to stop is also a valid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CC2F4-5224-4815-86F3-CBDA854F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6DADB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C6DADB"/>
                </a:solidFill>
                <a:latin typeface="DejaVu Sans"/>
                <a:ea typeface="DejaVu Sans"/>
                <a:cs typeface="DejaVu Sans"/>
              </a:rPr>
              <a:t>github.com/patha325/medjournal</a:t>
            </a:r>
          </a:p>
        </p:txBody>
      </p:sp>
    </p:spTree>
    <p:extLst>
      <p:ext uri="{BB962C8B-B14F-4D97-AF65-F5344CB8AC3E}">
        <p14:creationId xmlns:p14="http://schemas.microsoft.com/office/powerpoint/2010/main" val="1906015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2026-09-22T14:50:36.3480000Z</dcterms:created>
  <dcterms:modified xsi:type="dcterms:W3CDTF">2026-09-22T14:50:36.3480000Z</dcterms:modified>
</coreProperties>
</file>